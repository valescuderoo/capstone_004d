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ios Extended Bold" charset="1" panose="02000805050000020004"/>
      <p:regular r:id="rId16"/>
    </p:embeddedFont>
    <p:embeddedFont>
      <p:font typeface="Open Sans Bold" charset="1" panose="020B0806030504020204"/>
      <p:regular r:id="rId17"/>
    </p:embeddedFont>
    <p:embeddedFont>
      <p:font typeface="Helios Extended" charset="1" panose="02000505040000020004"/>
      <p:regular r:id="rId18"/>
    </p:embeddedFont>
    <p:embeddedFont>
      <p:font typeface="Canva Sans" charset="1" panose="020B0503030501040103"/>
      <p:regular r:id="rId22"/>
    </p:embeddedFont>
    <p:embeddedFont>
      <p:font typeface="TT Runs" charset="1" panose="02000000000000000607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2035" y="8512447"/>
            <a:ext cx="877265" cy="87726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97573" y="-1438232"/>
            <a:ext cx="4111140" cy="411114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3101" y="8512447"/>
            <a:ext cx="4556571" cy="45565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29965" y="8512447"/>
            <a:ext cx="626973" cy="62697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8873" y="0"/>
            <a:ext cx="7684823" cy="1897191"/>
          </a:xfrm>
          <a:custGeom>
            <a:avLst/>
            <a:gdLst/>
            <a:ahLst/>
            <a:cxnLst/>
            <a:rect r="r" b="b" t="t" l="l"/>
            <a:pathLst>
              <a:path h="1897191" w="7684823">
                <a:moveTo>
                  <a:pt x="0" y="0"/>
                </a:moveTo>
                <a:lnTo>
                  <a:pt x="7684822" y="0"/>
                </a:lnTo>
                <a:lnTo>
                  <a:pt x="7684822" y="1897191"/>
                </a:lnTo>
                <a:lnTo>
                  <a:pt x="0" y="1897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35171" y="3716524"/>
            <a:ext cx="12662401" cy="2416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24"/>
              </a:lnSpc>
            </a:pPr>
            <a:r>
              <a:rPr lang="en-US" b="true" sz="9499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PROYECTO FINAL LITLECT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27808" y="8349631"/>
            <a:ext cx="3154227" cy="153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3"/>
              </a:lnSpc>
            </a:pPr>
            <a:r>
              <a:rPr lang="en-US" sz="292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Integrantes : Valeria Escudero </a:t>
            </a:r>
          </a:p>
          <a:p>
            <a:pPr algn="ctr">
              <a:lnSpc>
                <a:spcPts val="4093"/>
              </a:lnSpc>
            </a:pPr>
            <a:r>
              <a:rPr lang="en-US" sz="292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Antonia Donoso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7505">
            <a:off x="14800572" y="-1689670"/>
            <a:ext cx="4917457" cy="49174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77505">
            <a:off x="-1691227" y="6480328"/>
            <a:ext cx="5436752" cy="543675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71950" y="5756488"/>
            <a:ext cx="4284114" cy="3312842"/>
            <a:chOff x="0" y="0"/>
            <a:chExt cx="1128326" cy="8725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326" cy="872518"/>
            </a:xfrm>
            <a:custGeom>
              <a:avLst/>
              <a:gdLst/>
              <a:ahLst/>
              <a:cxnLst/>
              <a:rect r="r" b="b" t="t" l="l"/>
              <a:pathLst>
                <a:path h="872518" w="1128326">
                  <a:moveTo>
                    <a:pt x="0" y="0"/>
                  </a:moveTo>
                  <a:lnTo>
                    <a:pt x="1128326" y="0"/>
                  </a:lnTo>
                  <a:lnTo>
                    <a:pt x="1128326" y="872518"/>
                  </a:lnTo>
                  <a:lnTo>
                    <a:pt x="0" y="872518"/>
                  </a:lnTo>
                  <a:close/>
                </a:path>
              </a:pathLst>
            </a:custGeom>
            <a:solidFill>
              <a:srgbClr val="FFBBE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1128326" cy="85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06323" y="5756488"/>
            <a:ext cx="4284114" cy="3312842"/>
            <a:chOff x="0" y="0"/>
            <a:chExt cx="1128326" cy="8725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8326" cy="872518"/>
            </a:xfrm>
            <a:custGeom>
              <a:avLst/>
              <a:gdLst/>
              <a:ahLst/>
              <a:cxnLst/>
              <a:rect r="r" b="b" t="t" l="l"/>
              <a:pathLst>
                <a:path h="872518" w="1128326">
                  <a:moveTo>
                    <a:pt x="0" y="0"/>
                  </a:moveTo>
                  <a:lnTo>
                    <a:pt x="1128326" y="0"/>
                  </a:lnTo>
                  <a:lnTo>
                    <a:pt x="1128326" y="872518"/>
                  </a:lnTo>
                  <a:lnTo>
                    <a:pt x="0" y="872518"/>
                  </a:lnTo>
                  <a:close/>
                </a:path>
              </a:pathLst>
            </a:custGeom>
            <a:solidFill>
              <a:srgbClr val="FFE7BE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1128326" cy="853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13461">
            <a:off x="-100736" y="-2800288"/>
            <a:ext cx="4556571" cy="455657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77505">
            <a:off x="13928475" y="9389850"/>
            <a:ext cx="555768" cy="55576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77505">
            <a:off x="1845325" y="1481356"/>
            <a:ext cx="555768" cy="55576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705439" y="1114161"/>
            <a:ext cx="3748209" cy="4114800"/>
          </a:xfrm>
          <a:custGeom>
            <a:avLst/>
            <a:gdLst/>
            <a:ahLst/>
            <a:cxnLst/>
            <a:rect r="r" b="b" t="t" l="l"/>
            <a:pathLst>
              <a:path h="4114800" w="3748209">
                <a:moveTo>
                  <a:pt x="0" y="0"/>
                </a:moveTo>
                <a:lnTo>
                  <a:pt x="3748208" y="0"/>
                </a:lnTo>
                <a:lnTo>
                  <a:pt x="37482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826836" y="6479486"/>
            <a:ext cx="3574342" cy="93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3206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Valeria Escudero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61209" y="6479486"/>
            <a:ext cx="3574342" cy="93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3206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Antonia Donoso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88264" y="7753421"/>
            <a:ext cx="2320233" cy="31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9"/>
              </a:lnSpc>
            </a:pPr>
            <a:r>
              <a:rPr lang="en-US" sz="2081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IT Developer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53891" y="7753421"/>
            <a:ext cx="2320233" cy="31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9"/>
              </a:lnSpc>
            </a:pPr>
            <a:r>
              <a:rPr lang="en-US" sz="2081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IT Developer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387343" y="1225190"/>
            <a:ext cx="3748209" cy="4114800"/>
          </a:xfrm>
          <a:custGeom>
            <a:avLst/>
            <a:gdLst/>
            <a:ahLst/>
            <a:cxnLst/>
            <a:rect r="r" b="b" t="t" l="l"/>
            <a:pathLst>
              <a:path h="4114800" w="3748209">
                <a:moveTo>
                  <a:pt x="0" y="0"/>
                </a:moveTo>
                <a:lnTo>
                  <a:pt x="3748209" y="0"/>
                </a:lnTo>
                <a:lnTo>
                  <a:pt x="37482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45315" y="2829917"/>
            <a:ext cx="8640962" cy="86409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289911" y="1142130"/>
            <a:ext cx="3896697" cy="7793395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2667000" y="6350000"/>
                  </a:moveTo>
                  <a:lnTo>
                    <a:pt x="508000" y="6350000"/>
                  </a:lnTo>
                  <a:cubicBezTo>
                    <a:pt x="227330" y="6350000"/>
                    <a:pt x="0" y="6122670"/>
                    <a:pt x="0" y="5842000"/>
                  </a:cubicBezTo>
                  <a:lnTo>
                    <a:pt x="0" y="508000"/>
                  </a:lnTo>
                  <a:cubicBezTo>
                    <a:pt x="0" y="227330"/>
                    <a:pt x="227330" y="0"/>
                    <a:pt x="508000" y="0"/>
                  </a:cubicBezTo>
                  <a:lnTo>
                    <a:pt x="2667000" y="0"/>
                  </a:lnTo>
                  <a:cubicBezTo>
                    <a:pt x="2947670" y="0"/>
                    <a:pt x="3175000" y="227330"/>
                    <a:pt x="3175000" y="508000"/>
                  </a:cubicBezTo>
                  <a:lnTo>
                    <a:pt x="3175000" y="5842000"/>
                  </a:lnTo>
                  <a:cubicBezTo>
                    <a:pt x="3175000" y="6122670"/>
                    <a:pt x="2947670" y="6350000"/>
                    <a:pt x="2667000" y="6350000"/>
                  </a:cubicBezTo>
                  <a:close/>
                </a:path>
              </a:pathLst>
            </a:custGeom>
            <a:solidFill>
              <a:srgbClr val="FFFA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2667000" y="19050"/>
                  </a:moveTo>
                  <a:cubicBezTo>
                    <a:pt x="2936240" y="19050"/>
                    <a:pt x="3155950" y="238760"/>
                    <a:pt x="3155950" y="508000"/>
                  </a:cubicBezTo>
                  <a:lnTo>
                    <a:pt x="3155950" y="5842000"/>
                  </a:lnTo>
                  <a:cubicBezTo>
                    <a:pt x="3155950" y="6111240"/>
                    <a:pt x="2936240" y="6330950"/>
                    <a:pt x="2667000" y="6330950"/>
                  </a:cubicBezTo>
                  <a:lnTo>
                    <a:pt x="508000" y="6330950"/>
                  </a:lnTo>
                  <a:cubicBezTo>
                    <a:pt x="238760" y="6330950"/>
                    <a:pt x="19050" y="6111240"/>
                    <a:pt x="19050" y="5842000"/>
                  </a:cubicBezTo>
                  <a:lnTo>
                    <a:pt x="19050" y="508000"/>
                  </a:lnTo>
                  <a:cubicBezTo>
                    <a:pt x="19050" y="238760"/>
                    <a:pt x="238760" y="19050"/>
                    <a:pt x="508000" y="19050"/>
                  </a:cubicBezTo>
                  <a:lnTo>
                    <a:pt x="2667000" y="19050"/>
                  </a:lnTo>
                  <a:moveTo>
                    <a:pt x="2667000" y="0"/>
                  </a:moveTo>
                  <a:lnTo>
                    <a:pt x="508000" y="0"/>
                  </a:lnTo>
                  <a:cubicBezTo>
                    <a:pt x="227330" y="0"/>
                    <a:pt x="0" y="227330"/>
                    <a:pt x="0" y="508000"/>
                  </a:cubicBezTo>
                  <a:lnTo>
                    <a:pt x="0" y="5842000"/>
                  </a:lnTo>
                  <a:cubicBezTo>
                    <a:pt x="0" y="6122670"/>
                    <a:pt x="227330" y="6350000"/>
                    <a:pt x="508000" y="6350000"/>
                  </a:cubicBezTo>
                  <a:lnTo>
                    <a:pt x="2667000" y="6350000"/>
                  </a:lnTo>
                  <a:cubicBezTo>
                    <a:pt x="2947670" y="6350000"/>
                    <a:pt x="3175000" y="6122670"/>
                    <a:pt x="3175000" y="5842000"/>
                  </a:cubicBezTo>
                  <a:lnTo>
                    <a:pt x="3175000" y="508000"/>
                  </a:lnTo>
                  <a:cubicBezTo>
                    <a:pt x="3175000" y="227330"/>
                    <a:pt x="2947670" y="0"/>
                    <a:pt x="2667000" y="0"/>
                  </a:cubicBezTo>
                  <a:lnTo>
                    <a:pt x="2667000" y="0"/>
                  </a:lnTo>
                  <a:close/>
                </a:path>
              </a:pathLst>
            </a:custGeom>
            <a:solidFill>
              <a:srgbClr val="CFCFC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687084" y="1028700"/>
            <a:ext cx="5102352" cy="8229600"/>
          </a:xfrm>
          <a:custGeom>
            <a:avLst/>
            <a:gdLst/>
            <a:ahLst/>
            <a:cxnLst/>
            <a:rect r="r" b="b" t="t" l="l"/>
            <a:pathLst>
              <a:path h="8229600" w="5102352">
                <a:moveTo>
                  <a:pt x="0" y="0"/>
                </a:moveTo>
                <a:lnTo>
                  <a:pt x="5102352" y="0"/>
                </a:lnTo>
                <a:lnTo>
                  <a:pt x="51023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397573" y="-1438232"/>
            <a:ext cx="4111140" cy="411114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5893" y="722011"/>
            <a:ext cx="798564" cy="79856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707249" y="4047510"/>
            <a:ext cx="7821917" cy="416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proyecto LitLect busca motivar la lectura en las personas que perciben los libros como abrumadores y la lectura como una actividad solitaria. La solución es una red social donde los usuarios pueden compartir reflexiones sobre libros y comentar en las publicaciones de otros, creando una comunidad de lectura atractiva y accesible. Implementada con Angular y Firebase, la plataforma facilita la interacción en torno a la lectura, transformándola en una experiencia compartida y motivadora.</a:t>
            </a:r>
          </a:p>
        </p:txBody>
      </p:sp>
      <p:grpSp>
        <p:nvGrpSpPr>
          <p:cNvPr name="Group 16" id="16"/>
          <p:cNvGrpSpPr/>
          <p:nvPr/>
        </p:nvGrpSpPr>
        <p:grpSpPr>
          <a:xfrm rot="-3187270">
            <a:off x="15397573" y="7884414"/>
            <a:ext cx="4556571" cy="455657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889917" y="2829917"/>
            <a:ext cx="2696685" cy="3742222"/>
          </a:xfrm>
          <a:custGeom>
            <a:avLst/>
            <a:gdLst/>
            <a:ahLst/>
            <a:cxnLst/>
            <a:rect r="r" b="b" t="t" l="l"/>
            <a:pathLst>
              <a:path h="3742222" w="2696685">
                <a:moveTo>
                  <a:pt x="0" y="0"/>
                </a:moveTo>
                <a:lnTo>
                  <a:pt x="2696686" y="0"/>
                </a:lnTo>
                <a:lnTo>
                  <a:pt x="2696686" y="3742222"/>
                </a:lnTo>
                <a:lnTo>
                  <a:pt x="0" y="3742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707249" y="1824090"/>
            <a:ext cx="6685915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Contexto del proyecto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781" y="-4961817"/>
            <a:ext cx="8640962" cy="86409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49747" y="8116242"/>
            <a:ext cx="1401131" cy="14011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090058" y="8582229"/>
            <a:ext cx="4556571" cy="45565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1473" y="8778707"/>
            <a:ext cx="563753" cy="56375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88227" y="3045643"/>
            <a:ext cx="10836284" cy="6786223"/>
          </a:xfrm>
          <a:custGeom>
            <a:avLst/>
            <a:gdLst/>
            <a:ahLst/>
            <a:cxnLst/>
            <a:rect r="r" b="b" t="t" l="l"/>
            <a:pathLst>
              <a:path h="6786223" w="10836284">
                <a:moveTo>
                  <a:pt x="0" y="0"/>
                </a:moveTo>
                <a:lnTo>
                  <a:pt x="10836284" y="0"/>
                </a:lnTo>
                <a:lnTo>
                  <a:pt x="10836284" y="6786223"/>
                </a:lnTo>
                <a:lnTo>
                  <a:pt x="0" y="678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524144"/>
            <a:ext cx="7266173" cy="181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1"/>
              </a:lnSpc>
            </a:pPr>
            <a:r>
              <a:rPr lang="en-US" sz="6292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Problemática del Proyecto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650878" y="4857184"/>
            <a:ext cx="6642314" cy="2336710"/>
          </a:xfrm>
          <a:custGeom>
            <a:avLst/>
            <a:gdLst/>
            <a:ahLst/>
            <a:cxnLst/>
            <a:rect r="r" b="b" t="t" l="l"/>
            <a:pathLst>
              <a:path h="2336710" w="6642314">
                <a:moveTo>
                  <a:pt x="0" y="0"/>
                </a:moveTo>
                <a:lnTo>
                  <a:pt x="6642315" y="0"/>
                </a:lnTo>
                <a:lnTo>
                  <a:pt x="6642315" y="2336710"/>
                </a:lnTo>
                <a:lnTo>
                  <a:pt x="0" y="2336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65482" y="8371933"/>
            <a:ext cx="6947609" cy="1772734"/>
          </a:xfrm>
          <a:custGeom>
            <a:avLst/>
            <a:gdLst/>
            <a:ahLst/>
            <a:cxnLst/>
            <a:rect r="r" b="b" t="t" l="l"/>
            <a:pathLst>
              <a:path h="1772734" w="6947609">
                <a:moveTo>
                  <a:pt x="0" y="0"/>
                </a:moveTo>
                <a:lnTo>
                  <a:pt x="6947609" y="0"/>
                </a:lnTo>
                <a:lnTo>
                  <a:pt x="6947609" y="1772734"/>
                </a:lnTo>
                <a:lnTo>
                  <a:pt x="0" y="1772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035847" y="611157"/>
            <a:ext cx="1914466" cy="1731993"/>
          </a:xfrm>
          <a:custGeom>
            <a:avLst/>
            <a:gdLst/>
            <a:ahLst/>
            <a:cxnLst/>
            <a:rect r="r" b="b" t="t" l="l"/>
            <a:pathLst>
              <a:path h="1731993" w="1914466">
                <a:moveTo>
                  <a:pt x="0" y="0"/>
                </a:moveTo>
                <a:lnTo>
                  <a:pt x="1914466" y="0"/>
                </a:lnTo>
                <a:lnTo>
                  <a:pt x="1914466" y="1731993"/>
                </a:lnTo>
                <a:lnTo>
                  <a:pt x="0" y="1731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255994" y="563825"/>
            <a:ext cx="5566585" cy="3115320"/>
          </a:xfrm>
          <a:custGeom>
            <a:avLst/>
            <a:gdLst/>
            <a:ahLst/>
            <a:cxnLst/>
            <a:rect r="r" b="b" t="t" l="l"/>
            <a:pathLst>
              <a:path h="3115320" w="5566585">
                <a:moveTo>
                  <a:pt x="0" y="0"/>
                </a:moveTo>
                <a:lnTo>
                  <a:pt x="5566585" y="0"/>
                </a:lnTo>
                <a:lnTo>
                  <a:pt x="5566585" y="3115320"/>
                </a:lnTo>
                <a:lnTo>
                  <a:pt x="0" y="31153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335" y="1363106"/>
            <a:ext cx="5817738" cy="7030499"/>
          </a:xfrm>
          <a:custGeom>
            <a:avLst/>
            <a:gdLst/>
            <a:ahLst/>
            <a:cxnLst/>
            <a:rect r="r" b="b" t="t" l="l"/>
            <a:pathLst>
              <a:path h="7030499" w="5817738">
                <a:moveTo>
                  <a:pt x="0" y="0"/>
                </a:moveTo>
                <a:lnTo>
                  <a:pt x="5817738" y="0"/>
                </a:lnTo>
                <a:lnTo>
                  <a:pt x="5817738" y="7030499"/>
                </a:lnTo>
                <a:lnTo>
                  <a:pt x="0" y="7030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60831" y="2894940"/>
            <a:ext cx="11439937" cy="549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6567" indent="-258284" lvl="1">
              <a:lnSpc>
                <a:spcPts val="3349"/>
              </a:lnSpc>
              <a:buFont typeface="Arial"/>
              <a:buChar char="•"/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 propuesta consiste en una red social donde los usuarios pueden interactuar sobre libros que han leído, subir fotos de portadas, compartir reflexiones y recomendar lecturas.</a:t>
            </a:r>
          </a:p>
          <a:p>
            <a:pPr algn="l" marL="516567" indent="-258284" lvl="1">
              <a:lnSpc>
                <a:spcPts val="3349"/>
              </a:lnSpc>
              <a:buFont typeface="Arial"/>
              <a:buChar char="•"/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Objetivo: Facilitar la creación de una comunidad que motive a los usuarios a leer, con funcionalidades como comentarios y un espacio para discusiones literarias.</a:t>
            </a:r>
          </a:p>
          <a:p>
            <a:pPr algn="l" marL="516567" indent="-258284" lvl="1">
              <a:lnSpc>
                <a:spcPts val="3349"/>
              </a:lnSpc>
              <a:buFont typeface="Arial"/>
              <a:buChar char="•"/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Beneficios:</a:t>
            </a:r>
          </a:p>
          <a:p>
            <a:pPr algn="l" marL="1549702" indent="-387425" lvl="3">
              <a:lnSpc>
                <a:spcPts val="3349"/>
              </a:lnSpc>
              <a:buFont typeface="Arial"/>
              <a:buChar char="￭"/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Mejora la accesibilidad y el intercambio cultural entre usuarios.</a:t>
            </a:r>
          </a:p>
          <a:p>
            <a:pPr algn="l" marL="1549702" indent="-387425" lvl="3">
              <a:lnSpc>
                <a:spcPts val="3349"/>
              </a:lnSpc>
              <a:buFont typeface="Arial"/>
              <a:buChar char="￭"/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Fomenta el hábito de lectura entre los jóvenes de manera interactiva.</a:t>
            </a:r>
          </a:p>
          <a:p>
            <a:pPr algn="l" marL="1549702" indent="-387425" lvl="3">
              <a:lnSpc>
                <a:spcPts val="3349"/>
              </a:lnSpc>
              <a:buFont typeface="Arial"/>
              <a:buChar char="￭"/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 un espacio de confianza para compartir experiencias literarias.</a:t>
            </a:r>
          </a:p>
          <a:p>
            <a:pPr algn="l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78808" y="648970"/>
            <a:ext cx="8603984" cy="169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9"/>
              </a:lnSpc>
            </a:pPr>
            <a:r>
              <a:rPr lang="en-US" sz="5899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Solución Propuesta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594165" y="-1319717"/>
            <a:ext cx="6909928" cy="690992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610640">
            <a:off x="15320269" y="6435527"/>
            <a:ext cx="4917457" cy="49174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13461">
            <a:off x="16297916" y="-2468826"/>
            <a:ext cx="4556571" cy="45565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610640">
            <a:off x="16516355" y="731412"/>
            <a:ext cx="927715" cy="9277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3582628">
            <a:off x="-2533146" y="8794862"/>
            <a:ext cx="4556571" cy="455657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610640">
            <a:off x="707233" y="8936833"/>
            <a:ext cx="642934" cy="6429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315763" y="2286171"/>
            <a:ext cx="3894255" cy="6540142"/>
            <a:chOff x="0" y="0"/>
            <a:chExt cx="1025647" cy="17225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5647" cy="1722506"/>
            </a:xfrm>
            <a:custGeom>
              <a:avLst/>
              <a:gdLst/>
              <a:ahLst/>
              <a:cxnLst/>
              <a:rect r="r" b="b" t="t" l="l"/>
              <a:pathLst>
                <a:path h="1722506" w="1025647">
                  <a:moveTo>
                    <a:pt x="0" y="0"/>
                  </a:moveTo>
                  <a:lnTo>
                    <a:pt x="1025647" y="0"/>
                  </a:lnTo>
                  <a:lnTo>
                    <a:pt x="1025647" y="1722506"/>
                  </a:lnTo>
                  <a:lnTo>
                    <a:pt x="0" y="1722506"/>
                  </a:lnTo>
                  <a:close/>
                </a:path>
              </a:pathLst>
            </a:custGeom>
            <a:solidFill>
              <a:srgbClr val="FFBBE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025647" cy="1703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80701" y="2286171"/>
            <a:ext cx="3894255" cy="6540142"/>
            <a:chOff x="0" y="0"/>
            <a:chExt cx="1025647" cy="17225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5647" cy="1722506"/>
            </a:xfrm>
            <a:custGeom>
              <a:avLst/>
              <a:gdLst/>
              <a:ahLst/>
              <a:cxnLst/>
              <a:rect r="r" b="b" t="t" l="l"/>
              <a:pathLst>
                <a:path h="1722506" w="1025647">
                  <a:moveTo>
                    <a:pt x="0" y="0"/>
                  </a:moveTo>
                  <a:lnTo>
                    <a:pt x="1025647" y="0"/>
                  </a:lnTo>
                  <a:lnTo>
                    <a:pt x="1025647" y="1722506"/>
                  </a:lnTo>
                  <a:lnTo>
                    <a:pt x="0" y="1722506"/>
                  </a:lnTo>
                  <a:close/>
                </a:path>
              </a:pathLst>
            </a:custGeom>
            <a:solidFill>
              <a:srgbClr val="FFE7BE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025647" cy="1703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719790" y="289523"/>
            <a:ext cx="6285446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Herramientas Utilizadas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02254" y="2826492"/>
            <a:ext cx="2721273" cy="42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818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Frontend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67193" y="2826492"/>
            <a:ext cx="2721273" cy="42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818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Backend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82187" y="3625412"/>
            <a:ext cx="3561408" cy="444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753" indent="-177376" lvl="1">
              <a:lnSpc>
                <a:spcPts val="2300"/>
              </a:lnSpc>
              <a:buFont typeface="Arial"/>
              <a:buChar char="•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Angular: Framework principal para desarrollar la interfaz de usuario y gestionar datos.</a:t>
            </a:r>
          </a:p>
          <a:p>
            <a:pPr algn="l" marL="354753" indent="-177376" lvl="1">
              <a:lnSpc>
                <a:spcPts val="2300"/>
              </a:lnSpc>
              <a:buFont typeface="Arial"/>
              <a:buChar char="•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Ionic Framework: Componentes UI adaptativos para web y móviles.</a:t>
            </a:r>
          </a:p>
          <a:p>
            <a:pPr algn="l" marL="354753" indent="-177376" lvl="1">
              <a:lnSpc>
                <a:spcPts val="2300"/>
              </a:lnSpc>
              <a:buFont typeface="Arial"/>
              <a:buChar char="•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TypeScript: Lenguaje usado para la lógica y estructura del front-end.</a:t>
            </a:r>
          </a:p>
          <a:p>
            <a:pPr algn="l" marL="354753" indent="-177376" lvl="1">
              <a:lnSpc>
                <a:spcPts val="2300"/>
              </a:lnSpc>
              <a:buFont typeface="Arial"/>
              <a:buChar char="•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HTML y CSS: Lenguajes básicos para la estructura visual y estilo.</a:t>
            </a:r>
          </a:p>
          <a:p>
            <a:pPr algn="l" marL="354753" indent="-177376" lvl="1">
              <a:lnSpc>
                <a:spcPts val="2300"/>
              </a:lnSpc>
              <a:buFont typeface="Arial"/>
              <a:buChar char="•"/>
            </a:pPr>
            <a:r>
              <a:rPr lang="en-US" sz="1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Angular Router: Gestión de la navegación y control de acceso a rutas.</a:t>
            </a:r>
          </a:p>
          <a:p>
            <a:pPr algn="l">
              <a:lnSpc>
                <a:spcPts val="1528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686380" y="3436721"/>
            <a:ext cx="3482899" cy="5470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8733" indent="-189366" lvl="1">
              <a:lnSpc>
                <a:spcPts val="2455"/>
              </a:lnSpc>
              <a:buFont typeface="Arial"/>
              <a:buChar char="•"/>
            </a:pPr>
            <a:r>
              <a:rPr lang="en-US" sz="1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Firebase Authentication: Servicio para gestionar la autenticación y roles de usuarios.</a:t>
            </a:r>
          </a:p>
          <a:p>
            <a:pPr algn="l" marL="378733" indent="-189366" lvl="1">
              <a:lnSpc>
                <a:spcPts val="2455"/>
              </a:lnSpc>
              <a:buFont typeface="Arial"/>
              <a:buChar char="•"/>
            </a:pPr>
            <a:r>
              <a:rPr lang="en-US" sz="1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Angular Services y Guards: Servicios para la comunicación con Firebase y control de acceso.</a:t>
            </a:r>
          </a:p>
          <a:p>
            <a:pPr algn="l" marL="378733" indent="-189366" lvl="1">
              <a:lnSpc>
                <a:spcPts val="2455"/>
              </a:lnSpc>
              <a:buFont typeface="Arial"/>
              <a:buChar char="•"/>
            </a:pPr>
            <a:r>
              <a:rPr lang="en-US" sz="1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Firebase SDK: Librerías para conectar la aplicación con Firebase sin back-end propio.</a:t>
            </a:r>
          </a:p>
          <a:p>
            <a:pPr algn="l" marL="378733" indent="-189366" lvl="1">
              <a:lnSpc>
                <a:spcPts val="2455"/>
              </a:lnSpc>
              <a:buFont typeface="Arial"/>
              <a:buChar char="•"/>
            </a:pPr>
            <a:r>
              <a:rPr lang="en-US" sz="1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Firebase Firestore o Realtime Database: Base de datos para almacenar libros, reflexiones y registros de usuarios.</a:t>
            </a:r>
          </a:p>
          <a:p>
            <a:pPr algn="l">
              <a:lnSpc>
                <a:spcPts val="245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2594165" y="-1319717"/>
            <a:ext cx="6909928" cy="690992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610640">
            <a:off x="15320269" y="6435527"/>
            <a:ext cx="4917457" cy="491745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13461">
            <a:off x="16297916" y="-2468826"/>
            <a:ext cx="4556571" cy="45565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610640">
            <a:off x="16516355" y="731412"/>
            <a:ext cx="927715" cy="9277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3582628">
            <a:off x="-2533146" y="8794862"/>
            <a:ext cx="4556571" cy="455657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610640">
            <a:off x="707233" y="8936833"/>
            <a:ext cx="642934" cy="64293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551504" y="4062204"/>
            <a:ext cx="3894255" cy="3451739"/>
            <a:chOff x="0" y="0"/>
            <a:chExt cx="1025647" cy="909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5647" cy="909100"/>
            </a:xfrm>
            <a:custGeom>
              <a:avLst/>
              <a:gdLst/>
              <a:ahLst/>
              <a:cxnLst/>
              <a:rect r="r" b="b" t="t" l="l"/>
              <a:pathLst>
                <a:path h="909100" w="1025647">
                  <a:moveTo>
                    <a:pt x="0" y="0"/>
                  </a:moveTo>
                  <a:lnTo>
                    <a:pt x="1025647" y="0"/>
                  </a:lnTo>
                  <a:lnTo>
                    <a:pt x="1025647" y="909100"/>
                  </a:lnTo>
                  <a:lnTo>
                    <a:pt x="0" y="909100"/>
                  </a:lnTo>
                  <a:close/>
                </a:path>
              </a:pathLst>
            </a:custGeom>
            <a:solidFill>
              <a:srgbClr val="FFE7B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025647" cy="89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61498" y="2486647"/>
            <a:ext cx="3894255" cy="6540142"/>
            <a:chOff x="0" y="0"/>
            <a:chExt cx="1025647" cy="17225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5647" cy="1722506"/>
            </a:xfrm>
            <a:custGeom>
              <a:avLst/>
              <a:gdLst/>
              <a:ahLst/>
              <a:cxnLst/>
              <a:rect r="r" b="b" t="t" l="l"/>
              <a:pathLst>
                <a:path h="1722506" w="1025647">
                  <a:moveTo>
                    <a:pt x="0" y="0"/>
                  </a:moveTo>
                  <a:lnTo>
                    <a:pt x="1025647" y="0"/>
                  </a:lnTo>
                  <a:lnTo>
                    <a:pt x="1025647" y="1722506"/>
                  </a:lnTo>
                  <a:lnTo>
                    <a:pt x="0" y="1722506"/>
                  </a:lnTo>
                  <a:close/>
                </a:path>
              </a:pathLst>
            </a:custGeom>
            <a:solidFill>
              <a:srgbClr val="FFBBE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1025647" cy="1703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001277" y="772103"/>
            <a:ext cx="6285446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Objetivos y Metodologias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37995" y="4653863"/>
            <a:ext cx="2721273" cy="8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818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Objetivos Específicos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47989" y="3441293"/>
            <a:ext cx="2721273" cy="42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9"/>
              </a:lnSpc>
            </a:pPr>
            <a:r>
              <a:rPr lang="en-US" sz="2818" b="true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Metodologia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57182" y="5880955"/>
            <a:ext cx="3482899" cy="89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5"/>
              </a:lnSpc>
            </a:pPr>
            <a:r>
              <a:rPr lang="en-US" sz="1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Lograr que almenos el 60% de los usuarios activos en la App suban contenido 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81549" y="4033629"/>
            <a:ext cx="2654154" cy="438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utilizó la metodología Ágil (Scrum) para el desarrollo del proyecto. Esto permitió entregas continuas de funcionalidad y retroalimentación constante, adaptándose a los requerimientos del usuario final de manera flexible.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27523" y="2327023"/>
            <a:ext cx="5632954" cy="5632954"/>
          </a:xfrm>
          <a:custGeom>
            <a:avLst/>
            <a:gdLst/>
            <a:ahLst/>
            <a:cxnLst/>
            <a:rect r="r" b="b" t="t" l="l"/>
            <a:pathLst>
              <a:path h="5632954" w="5632954">
                <a:moveTo>
                  <a:pt x="0" y="0"/>
                </a:moveTo>
                <a:lnTo>
                  <a:pt x="5632954" y="0"/>
                </a:lnTo>
                <a:lnTo>
                  <a:pt x="5632954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716" y="-3953"/>
            <a:ext cx="1768256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Despliegue de la App en vercel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2384" y="9163050"/>
            <a:ext cx="800323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https://litlect.vercel.app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620056">
            <a:off x="-1255428" y="4293688"/>
            <a:ext cx="7908971" cy="790897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620056">
            <a:off x="4230797" y="-4339294"/>
            <a:ext cx="7908971" cy="790897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3582628">
            <a:off x="16414111" y="7838501"/>
            <a:ext cx="4556571" cy="45565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77505">
            <a:off x="16981416" y="8149376"/>
            <a:ext cx="555768" cy="55576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77505">
            <a:off x="614865" y="706836"/>
            <a:ext cx="1684710" cy="168471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33119" y="2069177"/>
            <a:ext cx="5305633" cy="6542820"/>
          </a:xfrm>
          <a:custGeom>
            <a:avLst/>
            <a:gdLst/>
            <a:ahLst/>
            <a:cxnLst/>
            <a:rect r="r" b="b" t="t" l="l"/>
            <a:pathLst>
              <a:path h="6542820" w="5305633">
                <a:moveTo>
                  <a:pt x="0" y="0"/>
                </a:moveTo>
                <a:lnTo>
                  <a:pt x="5305632" y="0"/>
                </a:lnTo>
                <a:lnTo>
                  <a:pt x="5305632" y="6542821"/>
                </a:lnTo>
                <a:lnTo>
                  <a:pt x="0" y="6542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153305" y="4623865"/>
            <a:ext cx="7821917" cy="5006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 proyecto ha demostrado ser una solución efectiva para fomentar el hábito de lectura mediante la interacción social, facilitando la creación de una comunidad virtual de lectores y promoviendo el interés por la literatura.</a:t>
            </a:r>
          </a:p>
          <a:p>
            <a:pPr algn="just">
              <a:lnSpc>
                <a:spcPts val="3349"/>
              </a:lnSpc>
            </a:pPr>
            <a:r>
              <a:rPr lang="en-US" sz="23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Este proyecto no solo aborda una necesidad tecnológica, sino también una necesidad cultural y educativa dentro de la sociedad. Las lecciones aprendidas subrayan la importancia de mantener flexibilidad en el desarrollo y escuchar atentamente las necesidades de los usuarios.</a:t>
            </a:r>
          </a:p>
          <a:p>
            <a:pPr algn="just">
              <a:lnSpc>
                <a:spcPts val="334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1280022"/>
            <a:ext cx="5522053" cy="226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5199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Conclusión y Reflexión Final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610640">
            <a:off x="6154742" y="1777288"/>
            <a:ext cx="5978517" cy="597851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26749" y="4041564"/>
            <a:ext cx="9634501" cy="147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2"/>
              </a:lnSpc>
            </a:pPr>
            <a:r>
              <a:rPr lang="en-US" sz="9920" b="true">
                <a:solidFill>
                  <a:srgbClr val="FFFFFF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Gracias!!</a:t>
            </a:r>
          </a:p>
        </p:txBody>
      </p:sp>
      <p:grpSp>
        <p:nvGrpSpPr>
          <p:cNvPr name="Group 6" id="6"/>
          <p:cNvGrpSpPr/>
          <p:nvPr/>
        </p:nvGrpSpPr>
        <p:grpSpPr>
          <a:xfrm rot="-1013461">
            <a:off x="-2402491" y="6679611"/>
            <a:ext cx="7214779" cy="72147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65004" y="8890297"/>
            <a:ext cx="3562024" cy="30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52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</a:rPr>
              <a:t>+123-456-7890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3933" y="8890297"/>
            <a:ext cx="4425535" cy="30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352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67957" y="8890297"/>
            <a:ext cx="5752087" cy="30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352">
                <a:solidFill>
                  <a:srgbClr val="000000"/>
                </a:solidFill>
                <a:latin typeface="TT Runs"/>
                <a:ea typeface="TT Runs"/>
                <a:cs typeface="TT Runs"/>
                <a:sym typeface="TT Runs"/>
              </a:rPr>
              <a:t>123 ANYWHERE ST., ANY CITY</a:t>
            </a:r>
          </a:p>
        </p:txBody>
      </p:sp>
      <p:grpSp>
        <p:nvGrpSpPr>
          <p:cNvPr name="Group 12" id="12"/>
          <p:cNvGrpSpPr/>
          <p:nvPr/>
        </p:nvGrpSpPr>
        <p:grpSpPr>
          <a:xfrm rot="-1610640">
            <a:off x="-1215797" y="-791859"/>
            <a:ext cx="2431594" cy="243159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610640">
            <a:off x="17919145" y="7445048"/>
            <a:ext cx="737710" cy="73771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13461">
            <a:off x="15610206" y="-1962910"/>
            <a:ext cx="4556571" cy="455657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F7AD">
                      <a:alpha val="100000"/>
                    </a:srgbClr>
                  </a:gs>
                  <a:gs pos="100000">
                    <a:srgbClr val="FFA9F9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610640">
            <a:off x="1264936" y="6345989"/>
            <a:ext cx="737710" cy="73771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7AD">
                    <a:alpha val="100000"/>
                  </a:srgbClr>
                </a:gs>
                <a:gs pos="100000">
                  <a:srgbClr val="FFA9F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DAGWgLxxe1c</dc:identifier>
  <dcterms:modified xsi:type="dcterms:W3CDTF">2011-08-01T06:04:30Z</dcterms:modified>
  <cp:revision>1</cp:revision>
  <dc:title>LitLect Red Social para Reflexionar sobre Libros</dc:title>
</cp:coreProperties>
</file>